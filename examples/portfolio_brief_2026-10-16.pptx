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MESSAGES</a:t>
            </a:r>
          </a:p>
          <a:p>
            <a:r>
              <a:t>1. Value is proven where AI is live: invoice automation runs 64% touch-free and the service copilot cuts handle time 11% in pilot.</a:t>
            </a:r>
          </a:p>
          <a:p>
            <a:r>
              <a:t>2. Delivery risk has moved to the foundations: the product catalogue (DAT-02) and the customer-facing AI checklist (GOV-03) together block CS Copilot, Demand Forecasting and the Proposal Generator.</a:t>
            </a:r>
          </a:p>
          <a:p>
            <a:r>
              <a:t>3. Both bottlenecks are capacity problems with small fixes: a contractor extension and 3 product FTE for data, one Responsible AI lead for governance.</a:t>
            </a:r>
          </a:p>
          <a:p/>
          <a:p>
            <a:r>
              <a:t>PORTFOLIO RISKS (ranked)</a:t>
            </a:r>
          </a:p>
          <a:p>
            <a:r>
              <a:t>#1 [43.8] Product catalogue delay stalls three AI go-lives — root DAT-02</a:t>
            </a:r>
          </a:p>
          <a:p>
            <a:r>
              <a:t>    Impact: Copilot wave 2 slips to December and forecasting may miss the S/S 2027 cycle (~€1M benefit deferred ~6 months); losing contractors on 31 Oct pushes the catalogue into January.</a:t>
            </a:r>
          </a:p>
          <a:p>
            <a:r>
              <a:t>    Action: CFO approves contractor SOW extension by 24 Oct; Product Management releases 3 FTE for data quality; DAT-02 delivers the SKU mapping table first.</a:t>
            </a:r>
          </a:p>
          <a:p>
            <a:r>
              <a:t>    Rolls up: DAT-02.R1, DAT-02.R2, DAT-02.R3, CRM-01.R1, SCM-06.R1, SCM-06.R2, SAL-08.R2</a:t>
            </a:r>
          </a:p>
          <a:p>
            <a:r>
              <a:t>#2 [43.8] Governance capacity blocks customer-facing AI — root GOV-03</a:t>
            </a:r>
          </a:p>
          <a:p>
            <a:r>
              <a:t>    Impact: No customer-facing GenAI go-live before 11 Nov at the earliest; the €1.4M proposal benefit is on hold and mandatory Responsible AI training slips into 2027.</a:t>
            </a:r>
          </a:p>
          <a:p>
            <a:r>
              <a:t>    Action: Exec committee funds a Responsible AI lead; run a joint CRM-01/SAL-08 checklist dry run before the 11 Nov approval meeting.</a:t>
            </a:r>
          </a:p>
          <a:p>
            <a:r>
              <a:t>    Rolls up: GOV-03.R1, GOV-03.R2, GOV-03.R5, CRM-01.R2, SAL-08.R1, HR-05.R1</a:t>
            </a:r>
          </a:p>
          <a:p>
            <a:r>
              <a:t>#3 [15.8] Users bypass AI output; training timing drifts — root HR-05</a:t>
            </a:r>
          </a:p>
          <a:p>
            <a:r>
              <a:t>    Impact: Benefits depend on agents and planners acting on AI output; training booked against moving go-live dates will need rebooking and won't stick.</a:t>
            </a:r>
          </a:p>
          <a:p>
            <a:r>
              <a:t>    Action: Lock go-live dates before booking training; extend the champions network to supply chain planners.</a:t>
            </a:r>
          </a:p>
          <a:p>
            <a:r>
              <a:t>    Rolls up: CRM-01.R4, SCM-06.R3, HR-05.R2, HR-05.R3, SAL-08.R4</a:t>
            </a:r>
          </a:p>
          <a:p>
            <a:r>
              <a:t>#4 [14.0] 2027 AI run costs rising across vendors — root FIN-04</a:t>
            </a:r>
          </a:p>
          <a:p>
            <a:r>
              <a:t>    Impact: A 12% document-AI price rise, ~10% model token uplift, the unfunded €65k sandbox and €90k app upgrades all land in 2027.</a:t>
            </a:r>
          </a:p>
          <a:p>
            <a:r>
              <a:t>    Action: Consolidate AI run costs into one 2027 budget line; Procurement negotiates the FIN-04 renewal before March.</a:t>
            </a:r>
          </a:p>
          <a:p>
            <a:r>
              <a:t>    Rolls up: FIN-04.R2, CRM-01.R5, HR-05.R4, IT-07.R3</a:t>
            </a:r>
          </a:p>
          <a:p>
            <a:r>
              <a:t>#5 [12.0] AI compliance gaps: monitoring and shadow AI — root GOV-03</a:t>
            </a:r>
          </a:p>
          <a:p>
            <a:r>
              <a:t>    Impact: Manual monitoring won't scale past ~10 production use cases, and unknown AI inside third-party SaaS creates EU AI Act exposure.</a:t>
            </a:r>
          </a:p>
          <a:p>
            <a:r>
              <a:t>    Action: Fund monitoring tooling in the 2027 budget round; Procurement adds AI questions to vendor onboarding by end of November.</a:t>
            </a:r>
          </a:p>
          <a:p>
            <a:r>
              <a:t>    Rolls up: GOV-03.R3, GOV-03.R4</a:t>
            </a:r>
          </a:p>
          <a:p>
            <a:r>
              <a:t>#6 [12.0] Legacy warehouse renews at ~€420k — root DAT-02</a:t>
            </a:r>
          </a:p>
          <a:p>
            <a:r>
              <a:t>    Impact: If migrations miss 1 Mar 2027, the old warehouse licence renews for another year at about €420k.</a:t>
            </a:r>
          </a:p>
          <a:p>
            <a:r>
              <a:t>    Action: Take a go/no-go on decommission in January from the customer-domain forecast; negotiate a short extension option now.</a:t>
            </a:r>
          </a:p>
          <a:p>
            <a:r>
              <a:t>    Rolls up: DAT-02.R4</a:t>
            </a:r>
          </a:p>
          <a:p>
            <a:r>
              <a:t>#7 [11.2] Partner identity delays copilot for Tallinn — root IT-07</a:t>
            </a:r>
          </a:p>
          <a:p>
            <a:r>
              <a:t>    Impact: Outsourced agents go live 1 Feb 2027 at the earliest instead of 11 Jan.</a:t>
            </a:r>
          </a:p>
          <a:p>
            <a:r>
              <a:t>    Action: CISO chooses the interim partner-identity option this month.</a:t>
            </a:r>
          </a:p>
          <a:p>
            <a:r>
              <a:t>    Rolls up: IT-07.R1, CRM-01.R3</a:t>
            </a:r>
          </a:p>
          <a:p/>
          <a:p>
            <a:r>
              <a:t>RAG CHANGES (reported -&gt; assessed)</a:t>
            </a:r>
          </a:p>
          <a:p>
            <a:r>
              <a:t>GOV-03: AMBER -&gt; RED. Self-assessed Amber, but the customer-facing checklist has slipped three times, now blocks two go-lives, and the capacity cause is unresolved.</a:t>
            </a:r>
          </a:p>
          <a:p>
            <a:r>
              <a:t>HR-05: GREEN -&gt; AMBER. Enrolment is ahead of plan, but the mandatory Responsible AI module (an AI-literacy compliance item) slips to 2027 and copilot training dates are unconfirmed.</a:t>
            </a:r>
          </a:p>
          <a:p>
            <a:r>
              <a:t>IT-07: GREEN -&gt; AMBER. Reported 'GREEN-ish', but partner identity has slipped two months, delaying a dependent rollout, and the access-request SLA is being breached.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2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233B"/>
                </a:solidFill>
                <a:latin typeface="Calibri"/>
              </a:rPr>
              <a:t>AI Transformation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6670"/>
                </a:solidFill>
                <a:latin typeface="Calibri"/>
              </a:rPr>
              <a:t>Leadership brief  ·  status period ending 16 October 2026  ·  8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364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670"/>
                </a:solidFill>
                <a:latin typeface="Calibri"/>
              </a:rPr>
              <a:t>ASSESSED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71632" y="548640"/>
            <a:ext cx="932688" cy="4572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 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792" y="548640"/>
            <a:ext cx="932688" cy="457200"/>
          </a:xfrm>
          <a:prstGeom prst="roundRect">
            <a:avLst>
              <a:gd name="adj" fmla="val 25000"/>
            </a:avLst>
          </a:prstGeom>
          <a:solidFill>
            <a:srgbClr val="E09A0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 Amber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59952" y="548640"/>
            <a:ext cx="932688" cy="45720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 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11365992" cy="530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64008" cy="530352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972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33B"/>
                </a:solidFill>
                <a:latin typeface="Calibri"/>
              </a:rPr>
              <a:t>Foundations are the bottleneck: Data Platform and AI Governance delays now hold up three AI go-lives. Four decisions needed by 11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Calibri"/>
              </a:rPr>
              <a:t>Initiative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6596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F6670"/>
                </a:solidFill>
                <a:latin typeface="Calibri"/>
              </a:rPr>
              <a:t>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6596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F6670"/>
                </a:solidFill>
                <a:latin typeface="Calibri"/>
              </a:rPr>
              <a:t>MILESTONE TO WATCH (FORECAST)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2249424"/>
            <a:ext cx="544068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11480" y="2395728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Data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4203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F6670"/>
                </a:solidFill>
                <a:latin typeface="Calibri"/>
              </a:rPr>
              <a:t>DAT-02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450592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2450592"/>
            <a:ext cx="311810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238658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368296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Customer domain live: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31 Mar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+75d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2722626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11480" y="2814066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768346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AI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960370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Calibri"/>
              </a:rPr>
              <a:t>GOV-03  ·  reported Amber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868930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2868930"/>
            <a:ext cx="340156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280492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786634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Customer-facing GenAI checklist approved: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11 Nov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+42d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3140964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11480" y="3232404"/>
            <a:ext cx="182880" cy="1828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186684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CS 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378708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F6670"/>
                </a:solidFill>
                <a:latin typeface="Calibri"/>
              </a:rPr>
              <a:t>CRM-01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287268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3287268"/>
            <a:ext cx="255117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322326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45%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204972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Wave 2 go-live (350 agents):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7 Dec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+35d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3559302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11480" y="3650742"/>
            <a:ext cx="182880" cy="1828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360502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Skills Academy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79704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Calibri"/>
              </a:rPr>
              <a:t>HR-05  ·  reported Green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3705606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51760" y="3705606"/>
            <a:ext cx="368503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73552" y="364159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65%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3623310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Responsible AI module live (mandatory):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29 Jan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+89d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" y="3977640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11480" y="4069080"/>
            <a:ext cx="182880" cy="1828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2336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Identity &amp; Access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15384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Calibri"/>
              </a:rPr>
              <a:t>IT-07  ·  reported Green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1760" y="4123944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51760" y="4123944"/>
            <a:ext cx="425196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73552" y="405993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4041648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Partner B2B identity live: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31 Jan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+61d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4395978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11480" y="4487418"/>
            <a:ext cx="182880" cy="1828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4441698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Proposal Generator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63372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F6670"/>
                </a:solidFill>
                <a:latin typeface="Calibri"/>
              </a:rPr>
              <a:t>SAL-08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4542282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51760" y="4542282"/>
            <a:ext cx="198424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73552" y="447827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35%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4459986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Customer-facing approval (GOV-03):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TBC</a:t>
            </a:r>
            <a:r>
              <a:rPr sz="900" b="0" i="0">
                <a:solidFill>
                  <a:srgbClr val="5F6670"/>
                </a:solidFill>
                <a:latin typeface="Calibri"/>
              </a:rPr>
              <a:t>  (was 30 Nov)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85800" y="4814316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411480" y="4905756"/>
            <a:ext cx="182880" cy="182880"/>
          </a:xfrm>
          <a:prstGeom prst="ellipse">
            <a:avLst/>
          </a:prstGeom>
          <a:solidFill>
            <a:srgbClr val="E09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4860036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Demand Forecasting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052060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F6670"/>
                </a:solidFill>
                <a:latin typeface="Calibri"/>
              </a:rPr>
              <a:t>SCM-06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4960620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51760" y="4960620"/>
            <a:ext cx="226771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73552" y="489661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40%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0" y="4878324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Full-range training data available: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4 Dec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+49d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85800" y="5232653"/>
            <a:ext cx="5166360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411480" y="5324094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278374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Invoice Automation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470398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F6670"/>
                </a:solidFill>
                <a:latin typeface="Calibri"/>
              </a:rPr>
              <a:t>FIN-04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51760" y="5378958"/>
            <a:ext cx="566928" cy="9144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51760" y="5378958"/>
            <a:ext cx="396849" cy="9144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73552" y="531495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670"/>
                </a:solidFill>
                <a:latin typeface="Calibri"/>
              </a:rPr>
              <a:t>70%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0" y="5296662"/>
            <a:ext cx="2194560" cy="363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62B33"/>
                </a:solidFill>
                <a:latin typeface="Calibri"/>
              </a:rPr>
              <a:t>STP rate ≥ 70%: </a:t>
            </a:r>
            <a:r>
              <a:rPr sz="900" b="1" i="0">
                <a:solidFill>
                  <a:srgbClr val="262B33"/>
                </a:solidFill>
                <a:latin typeface="Calibri"/>
              </a:rPr>
              <a:t>29 Jan</a:t>
            </a:r>
            <a:r>
              <a:rPr sz="900" b="1" i="0">
                <a:solidFill>
                  <a:srgbClr val="C62828"/>
                </a:solidFill>
                <a:latin typeface="Calibri"/>
              </a:rPr>
              <a:t>  +29d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1920240"/>
            <a:ext cx="5513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Calibri"/>
              </a:rPr>
              <a:t>Top risks</a:t>
            </a:r>
            <a:r>
              <a:rPr sz="1000" b="0" i="0">
                <a:solidFill>
                  <a:srgbClr val="5F6670"/>
                </a:solidFill>
                <a:latin typeface="Calibri"/>
              </a:rPr>
              <a:t>  ranked by impact across the portfolio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37392" y="1965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5F6670"/>
                </a:solidFill>
                <a:latin typeface="Calibri"/>
              </a:rPr>
              <a:t>SCORE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263640" y="2249424"/>
            <a:ext cx="5513832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263640" y="2350008"/>
            <a:ext cx="292608" cy="292608"/>
          </a:xfrm>
          <a:prstGeom prst="ellipse">
            <a:avLst/>
          </a:prstGeom>
          <a:solidFill>
            <a:srgbClr val="14233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0" y="2331720"/>
            <a:ext cx="437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Product catalogue delay stalls three AI go-lives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5120" y="2551176"/>
            <a:ext cx="4370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F6670"/>
                </a:solidFill>
                <a:latin typeface="Calibri"/>
              </a:rPr>
              <a:t>Copilot wave 2 slips to December and forecasting may miss the S/S 2027 cycle (~€1M benefit deferred ~6 months); losing contractors on 31 Oct pushes the catalogue into January.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2843784"/>
            <a:ext cx="4370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DA8"/>
                </a:solidFill>
                <a:latin typeface="Calibri"/>
              </a:rPr>
              <a:t>Root: DAT-02   ·   Hits: CRM-01, SCM-06, SAL-08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210544" y="2368296"/>
            <a:ext cx="566928" cy="29260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DE3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33B"/>
                </a:solidFill>
                <a:latin typeface="Calibri"/>
              </a:rPr>
              <a:t>44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675120" y="2973628"/>
            <a:ext cx="5102352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6263640" y="3019348"/>
            <a:ext cx="292608" cy="292608"/>
          </a:xfrm>
          <a:prstGeom prst="ellipse">
            <a:avLst/>
          </a:prstGeom>
          <a:solidFill>
            <a:srgbClr val="14233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75120" y="3001060"/>
            <a:ext cx="437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Governance capacity blocks customer-facing AI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75120" y="3220516"/>
            <a:ext cx="4370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F6670"/>
                </a:solidFill>
                <a:latin typeface="Calibri"/>
              </a:rPr>
              <a:t>No customer-facing GenAI go-live before 11 Nov at the earliest; the €1.4M proposal benefit is on hold and mandatory Responsible AI training slips into 2027.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0" y="3513124"/>
            <a:ext cx="4370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DA8"/>
                </a:solidFill>
                <a:latin typeface="Calibri"/>
              </a:rPr>
              <a:t>Root: GOV-03   ·   Hits: CRM-01, SAL-08, HR-05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210544" y="3037636"/>
            <a:ext cx="566928" cy="29260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DE3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33B"/>
                </a:solidFill>
                <a:latin typeface="Calibri"/>
              </a:rPr>
              <a:t>44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675120" y="3642969"/>
            <a:ext cx="5102352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6263640" y="3688689"/>
            <a:ext cx="292608" cy="292608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75120" y="3670401"/>
            <a:ext cx="437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Users bypass AI output; training timing drifts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75120" y="3889857"/>
            <a:ext cx="4370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F6670"/>
                </a:solidFill>
                <a:latin typeface="Calibri"/>
              </a:rPr>
              <a:t>Benefits depend on agents and planners acting on AI output; training booked against moving go-live dates will need rebooking and won't stick.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75120" y="4182465"/>
            <a:ext cx="4370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DA8"/>
                </a:solidFill>
                <a:latin typeface="Calibri"/>
              </a:rPr>
              <a:t>Root: HR-05   ·   Hits: CRM-01, SCM-06, SAL-08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210544" y="3706977"/>
            <a:ext cx="566928" cy="29260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DE3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33B"/>
                </a:solidFill>
                <a:latin typeface="Calibri"/>
              </a:rPr>
              <a:t>16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675120" y="4312310"/>
            <a:ext cx="5102352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263640" y="4358030"/>
            <a:ext cx="292608" cy="292608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75120" y="4339742"/>
            <a:ext cx="437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2027 AI run costs rising across vendors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75120" y="4559198"/>
            <a:ext cx="4370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F6670"/>
                </a:solidFill>
                <a:latin typeface="Calibri"/>
              </a:rPr>
              <a:t>A 12% document-AI price rise, ~10% model token uplift, the unfunded €65k sandbox and €90k app upgrades all land in 2027.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75120" y="4851806"/>
            <a:ext cx="4370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DA8"/>
                </a:solidFill>
                <a:latin typeface="Calibri"/>
              </a:rPr>
              <a:t>Root: FIN-04   ·   Hits: CRM-01, HR-05, IT-07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210544" y="4376318"/>
            <a:ext cx="566928" cy="29260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DE3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33B"/>
                </a:solidFill>
                <a:latin typeface="Calibri"/>
              </a:rPr>
              <a:t>14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675120" y="4981651"/>
            <a:ext cx="5102352" cy="0"/>
          </a:xfrm>
          <a:prstGeom prst="line">
            <a:avLst/>
          </a:prstGeom>
          <a:ln w="9525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263640" y="5027371"/>
            <a:ext cx="292608" cy="292608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75120" y="5009083"/>
            <a:ext cx="437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2B33"/>
                </a:solidFill>
                <a:latin typeface="Calibri"/>
              </a:rPr>
              <a:t>AI compliance gaps: monitoring and shadow AI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675120" y="5228539"/>
            <a:ext cx="4370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F6670"/>
                </a:solidFill>
                <a:latin typeface="Calibri"/>
              </a:rPr>
              <a:t>Manual monitoring won't scale past ~10 production use cases, and unknown AI inside third-party SaaS creates EU AI Act exposure.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75120" y="5521147"/>
            <a:ext cx="43708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F5DA8"/>
                </a:solidFill>
                <a:latin typeface="Calibri"/>
              </a:rPr>
              <a:t>Root: GOV-03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1210544" y="5045659"/>
            <a:ext cx="566928" cy="29260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DE3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33B"/>
                </a:solidFill>
                <a:latin typeface="Calibri"/>
              </a:rPr>
              <a:t>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1480" y="574243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33B"/>
                </a:solidFill>
                <a:latin typeface="Calibri"/>
              </a:rPr>
              <a:t>Decisions
needed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760720"/>
            <a:ext cx="2377439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920240" y="5852159"/>
            <a:ext cx="237744" cy="237744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40280" y="5833872"/>
            <a:ext cx="186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B33"/>
                </a:solidFill>
                <a:latin typeface="Calibri"/>
              </a:rPr>
              <a:t>CFO: approve the Data Platform contractor SOW extension by 24 Oct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15968" y="5760720"/>
            <a:ext cx="2377439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407407" y="5852159"/>
            <a:ext cx="237744" cy="237744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27448" y="5833872"/>
            <a:ext cx="186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B33"/>
                </a:solidFill>
                <a:latin typeface="Calibri"/>
              </a:rPr>
              <a:t>Sponsor: confirm Copilot wave 2 waits for the new knowledge index (7 Dec) so training is rebooked by 25 Oct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03136" y="5760720"/>
            <a:ext cx="2377439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894575" y="5852159"/>
            <a:ext cx="237744" cy="237744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14616" y="5833872"/>
            <a:ext cx="186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B33"/>
                </a:solidFill>
                <a:latin typeface="Calibri"/>
              </a:rPr>
              <a:t>Product Management: release 3 FTE for a six-week data quality sprint, SKU mapping first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290304" y="5760720"/>
            <a:ext cx="2377439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381744" y="5852159"/>
            <a:ext cx="237744" cy="237744"/>
          </a:xfrm>
          <a:prstGeom prst="ellipse">
            <a:avLst/>
          </a:prstGeom>
          <a:solidFill>
            <a:srgbClr val="2F5DA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701784" y="5833872"/>
            <a:ext cx="1865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B33"/>
                </a:solidFill>
                <a:latin typeface="Calibri"/>
              </a:rPr>
              <a:t>Exec committee: fund a Responsible AI lead and a joint CRM-01/SAL-08 checklist dry run before 11 Nov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" y="6510528"/>
            <a:ext cx="11365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F6670"/>
                </a:solidFill>
                <a:latin typeface="Calibri"/>
              </a:rPr>
              <a:t>Source: 8 status reports (15 pages), summarised by LLM (replay of reference_run). Risk score = likelihood × impact × (1 + 0.25 per other initiative hit). RAG is the assessed view; where it differs from the team's report, the reported status is shown.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Portfolio — 16 Oct 2026</dc:title>
  <dc:subject>Leadership portfolio brief</dc:subject>
  <dc:creator>AI Transformation Portfolio Tracker</dc:creator>
  <cp:keywords/>
  <dc:description>generated using python-pptx</dc:description>
  <cp:lastModifiedBy>AI Transformation Portfolio Tracker</cp:lastModifiedBy>
  <cp:revision>1</cp:revision>
  <dcterms:created xsi:type="dcterms:W3CDTF">2026-10-20T10:50:45Z</dcterms:created>
  <dcterms:modified xsi:type="dcterms:W3CDTF">2026-10-20T10:50:45Z</dcterms:modified>
  <cp:category/>
</cp:coreProperties>
</file>